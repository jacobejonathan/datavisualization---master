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A5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DBEAF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C5E-411F-9D4F-EE150538FB8C}"/>
              </c:ext>
            </c:extLst>
          </c:dPt>
          <c:dPt>
            <c:idx val="1"/>
            <c:invertIfNegative val="0"/>
            <c:bubble3D val="0"/>
            <c:spPr>
              <a:solidFill>
                <a:srgbClr val="93C5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C5E-411F-9D4F-EE150538FB8C}"/>
              </c:ext>
            </c:extLst>
          </c:dPt>
          <c:dPt>
            <c:idx val="2"/>
            <c:invertIfNegative val="0"/>
            <c:bubble3D val="0"/>
            <c:spPr>
              <a:solidFill>
                <a:srgbClr val="60A5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C5E-411F-9D4F-EE150538FB8C}"/>
              </c:ext>
            </c:extLst>
          </c:dPt>
          <c:dPt>
            <c:idx val="3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C5E-411F-9D4F-EE150538FB8C}"/>
              </c:ext>
            </c:extLst>
          </c:dPt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68</c:v>
                </c:pt>
                <c:pt idx="2">
                  <c:v>31</c:v>
                </c:pt>
                <c:pt idx="3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C5E-411F-9D4F-EE150538FB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DBEAFE"/>
            </a:solidFill>
            <a:ln w="25400" cap="flat">
              <a:solidFill>
                <a:srgbClr val="DBEAFE"/>
              </a:solidFill>
              <a:prstDash val="solid"/>
              <a:round/>
            </a:ln>
            <a:effectLst/>
          </c:spPr>
          <c:invertIfNegative val="1"/>
          <c:xVal>
            <c:numRef>
              <c:f>Sheet1!$A$2:$A$5</c:f>
              <c:numCache>
                <c:formatCode>General</c:formatCode>
                <c:ptCount val="4"/>
                <c:pt idx="0">
                  <c:v>2</c:v>
                </c:pt>
                <c:pt idx="1">
                  <c:v>5</c:v>
                </c:pt>
                <c:pt idx="2">
                  <c:v>8</c:v>
                </c:pt>
                <c:pt idx="3">
                  <c:v>4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6</c:v>
                </c:pt>
                <c:pt idx="2">
                  <c:v>2</c:v>
                </c:pt>
                <c:pt idx="3">
                  <c:v>8</c:v>
                </c:pt>
              </c:numCache>
            </c:numRef>
          </c:yVal>
          <c:bubbleSize>
            <c:numRef>
              <c:f>Sheet1!$C$2:$C$5</c:f>
              <c:numCache>
                <c:formatCode>General</c:formatCode>
                <c:ptCount val="4"/>
                <c:pt idx="0">
                  <c:v>10</c:v>
                </c:pt>
                <c:pt idx="1">
                  <c:v>16</c:v>
                </c:pt>
                <c:pt idx="2">
                  <c:v>8</c:v>
                </c:pt>
                <c:pt idx="3">
                  <c:v>12</c:v>
                </c:pt>
              </c:numCache>
            </c:numRef>
          </c:bubbleSize>
          <c:bubble3D val="0"/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5400" cap="flat">
                    <a:solidFill>
                      <a:srgbClr val="DBEAFE"/>
                    </a:solidFill>
                    <a:prstDash val="solid"/>
                    <a:round/>
                  </a:ln>
                  <a:effectLst/>
                </c14:spPr>
              </c14:invertSolidFillFmt>
            </c:ext>
            <c:ext xmlns:c16="http://schemas.microsoft.com/office/drawing/2014/chart" uri="{C3380CC4-5D6E-409C-BE32-E72D297353CC}">
              <c16:uniqueId val="{00000000-872D-4388-B4C3-7A61C84935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1"/>
        <c:axId val="2094734554"/>
        <c:axId val="2094734552"/>
      </c:bubble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DBEAF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093-4649-89E2-E26902D424A9}"/>
              </c:ext>
            </c:extLst>
          </c:dPt>
          <c:dPt>
            <c:idx val="1"/>
            <c:invertIfNegative val="0"/>
            <c:bubble3D val="0"/>
            <c:spPr>
              <a:solidFill>
                <a:srgbClr val="93C5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093-4649-89E2-E26902D424A9}"/>
              </c:ext>
            </c:extLst>
          </c:dPt>
          <c:dPt>
            <c:idx val="2"/>
            <c:invertIfNegative val="0"/>
            <c:bubble3D val="0"/>
            <c:spPr>
              <a:solidFill>
                <a:srgbClr val="60A5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093-4649-89E2-E26902D424A9}"/>
              </c:ext>
            </c:extLst>
          </c:dPt>
          <c:dPt>
            <c:idx val="3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093-4649-89E2-E26902D424A9}"/>
              </c:ext>
            </c:extLst>
          </c:dPt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68</c:v>
                </c:pt>
                <c:pt idx="2">
                  <c:v>31</c:v>
                </c:pt>
                <c:pt idx="3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093-4649-89E2-E26902D424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S1</c:v>
                </c:pt>
              </c:strCache>
            </c:strRef>
          </c:tx>
          <c:spPr>
            <a:ln w="25400" cap="flat">
              <a:solidFill>
                <a:srgbClr val="DBEAF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BEAFE"/>
              </a:solidFill>
              <a:ln w="9525" cap="flat">
                <a:solidFill>
                  <a:srgbClr val="DBEAFE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25</c:v>
                </c:pt>
                <c:pt idx="2">
                  <c:v>18</c:v>
                </c:pt>
                <c:pt idx="3">
                  <c:v>35</c:v>
                </c:pt>
                <c:pt idx="4">
                  <c:v>28</c:v>
                </c:pt>
                <c:pt idx="5">
                  <c:v>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24D-4EE2-B900-4CEAE1F4EB2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S2</c:v>
                </c:pt>
              </c:strCache>
            </c:strRef>
          </c:tx>
          <c:spPr>
            <a:ln w="25400" cap="flat">
              <a:solidFill>
                <a:srgbClr val="93C5F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3C5FD"/>
              </a:solidFill>
              <a:ln w="9525" cap="flat">
                <a:solidFill>
                  <a:srgbClr val="93C5F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20</c:v>
                </c:pt>
                <c:pt idx="1">
                  <c:v>15</c:v>
                </c:pt>
                <c:pt idx="2">
                  <c:v>30</c:v>
                </c:pt>
                <c:pt idx="3">
                  <c:v>22</c:v>
                </c:pt>
                <c:pt idx="4">
                  <c:v>38</c:v>
                </c:pt>
                <c:pt idx="5">
                  <c:v>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24D-4EE2-B900-4CEAE1F4EB2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S3</c:v>
                </c:pt>
              </c:strCache>
            </c:strRef>
          </c:tx>
          <c:spPr>
            <a:ln w="25400" cap="flat">
              <a:solidFill>
                <a:srgbClr val="60A5F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0A5FA"/>
              </a:solidFill>
              <a:ln w="9525" cap="flat">
                <a:solidFill>
                  <a:srgbClr val="60A5FA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30</c:v>
                </c:pt>
                <c:pt idx="1">
                  <c:v>20</c:v>
                </c:pt>
                <c:pt idx="2">
                  <c:v>12</c:v>
                </c:pt>
                <c:pt idx="3">
                  <c:v>28</c:v>
                </c:pt>
                <c:pt idx="4">
                  <c:v>18</c:v>
                </c:pt>
                <c:pt idx="5">
                  <c:v>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24D-4EE2-B900-4CEAE1F4EB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DBEAFE"/>
            </a:solidFill>
            <a:effectLst/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25</c:v>
                </c:pt>
                <c:pt idx="2">
                  <c:v>18</c:v>
                </c:pt>
                <c:pt idx="3">
                  <c:v>35</c:v>
                </c:pt>
                <c:pt idx="4">
                  <c:v>28</c:v>
                </c:pt>
                <c:pt idx="5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92-41AE-A933-47B9216462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BEAF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EDE-43E2-AE0E-78B26A112A45}"/>
              </c:ext>
            </c:extLst>
          </c:dPt>
          <c:dPt>
            <c:idx val="1"/>
            <c:bubble3D val="0"/>
            <c:spPr>
              <a:solidFill>
                <a:srgbClr val="93C5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EDE-43E2-AE0E-78B26A112A45}"/>
              </c:ext>
            </c:extLst>
          </c:dPt>
          <c:dPt>
            <c:idx val="2"/>
            <c:bubble3D val="0"/>
            <c:spPr>
              <a:solidFill>
                <a:srgbClr val="60A5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EDE-43E2-AE0E-78B26A112A45}"/>
              </c:ext>
            </c:extLst>
          </c:dPt>
          <c:dPt>
            <c:idx val="3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EDE-43E2-AE0E-78B26A112A45}"/>
              </c:ext>
            </c:extLst>
          </c:dPt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25</c:v>
                </c:pt>
                <c:pt idx="2">
                  <c:v>20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EDE-43E2-AE0E-78B26A112A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192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chart" Target="../charts/chart1.xml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leonardocolor.io/" TargetMode="External"/><Relationship Id="rId3" Type="http://schemas.openxmlformats.org/officeDocument/2006/relationships/hyperlink" Target="https://www.datavizstyleguide.com/" TargetMode="External"/><Relationship Id="rId7" Type="http://schemas.openxmlformats.org/officeDocument/2006/relationships/hyperlink" Target="https://color.adobe.com/create/color-whee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vsnightingale.wpenginepowered.com/writing-alt-text-for-data-visualization/" TargetMode="External"/><Relationship Id="rId5" Type="http://schemas.openxmlformats.org/officeDocument/2006/relationships/hyperlink" Target="https://www.urban.org/projects/do-no-harm-project" TargetMode="External"/><Relationship Id="rId4" Type="http://schemas.openxmlformats.org/officeDocument/2006/relationships/hyperlink" Target="https://www.w3.org/" TargetMode="External"/><Relationship Id="rId9" Type="http://schemas.openxmlformats.org/officeDocument/2006/relationships/hyperlink" Target="https://amzn.to/2zHQ4qv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BEAFE"/>
                </a:solidFill>
              </a:rPr>
              <a:t>Your Organization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Data Visualization Style Guide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Colors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87459" y="1965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5555"/>
                </a:solidFill>
              </a:rPr>
              <a:t>Sequential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87459" y="2286000"/>
            <a:ext cx="1097280" cy="6858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1887459" y="30175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22222"/>
                </a:solidFill>
              </a:rPr>
              <a:t>#dbeafe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222222"/>
                </a:solidFill>
              </a:rPr>
              <a:t>rgb(219,234,254)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3304779" y="2286000"/>
            <a:ext cx="1097280" cy="68580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3304779" y="30175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22222"/>
                </a:solidFill>
              </a:rPr>
              <a:t>#93c5fd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222222"/>
                </a:solidFill>
              </a:rPr>
              <a:t>rgb(147,197,253)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4722099" y="2286000"/>
            <a:ext cx="1097280" cy="6858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4722099" y="30175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22222"/>
                </a:solidFill>
              </a:rPr>
              <a:t>#60a5fa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222222"/>
                </a:solidFill>
              </a:rPr>
              <a:t>rgb(96,165,250)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6139419" y="2286000"/>
            <a:ext cx="1097280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6139419" y="30175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22222"/>
                </a:solidFill>
              </a:rPr>
              <a:t>#3b82f6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222222"/>
                </a:solidFill>
              </a:rPr>
              <a:t>rgb(59,130,246)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7556739" y="2286000"/>
            <a:ext cx="1097280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7556739" y="30175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22222"/>
                </a:solidFill>
              </a:rPr>
              <a:t>#2563eb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222222"/>
                </a:solidFill>
              </a:rPr>
              <a:t>rgb(37,99,235)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8974059" y="2286000"/>
            <a:ext cx="1097280" cy="6858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8974059" y="30175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22222"/>
                </a:solidFill>
              </a:rPr>
              <a:t>#1d4ed8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222222"/>
                </a:solidFill>
              </a:rPr>
              <a:t>rgb(29,78,216)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887459" y="3566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5555"/>
                </a:solidFill>
              </a:rPr>
              <a:t>Diverging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87459" y="3886200"/>
            <a:ext cx="1097280" cy="685800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1887459" y="46177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22222"/>
                </a:solidFill>
              </a:rPr>
              <a:t>#c1440e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222222"/>
                </a:solidFill>
              </a:rPr>
              <a:t>rgb(193,68,14)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3304779" y="3886200"/>
            <a:ext cx="1097280" cy="685800"/>
          </a:xfrm>
          <a:prstGeom prst="rect">
            <a:avLst/>
          </a:prstGeom>
          <a:solidFill>
            <a:srgbClr val="E08C3A"/>
          </a:solidFill>
          <a:ln w="12700">
            <a:solidFill>
              <a:srgbClr val="E08C3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3304779" y="46177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22222"/>
                </a:solidFill>
              </a:rPr>
              <a:t>#e08c3a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222222"/>
                </a:solidFill>
              </a:rPr>
              <a:t>rgb(224,140,58)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4722099" y="3886200"/>
            <a:ext cx="1097280" cy="685800"/>
          </a:xfrm>
          <a:prstGeom prst="rect">
            <a:avLst/>
          </a:prstGeom>
          <a:solidFill>
            <a:srgbClr val="F5DEB3"/>
          </a:solidFill>
          <a:ln w="12700">
            <a:solidFill>
              <a:srgbClr val="F5DEB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Text 21"/>
          <p:cNvSpPr/>
          <p:nvPr/>
        </p:nvSpPr>
        <p:spPr>
          <a:xfrm>
            <a:off x="4722099" y="46177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22222"/>
                </a:solidFill>
              </a:rPr>
              <a:t>#f5deb3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222222"/>
                </a:solidFill>
              </a:rPr>
              <a:t>rgb(245,222,179)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6139419" y="3886200"/>
            <a:ext cx="1097280" cy="685800"/>
          </a:xfrm>
          <a:prstGeom prst="rect">
            <a:avLst/>
          </a:prstGeom>
          <a:solidFill>
            <a:srgbClr val="A8DDD5"/>
          </a:solidFill>
          <a:ln w="12700">
            <a:solidFill>
              <a:srgbClr val="A8DDD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6139419" y="46177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22222"/>
                </a:solidFill>
              </a:rPr>
              <a:t>#a8ddd5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222222"/>
                </a:solidFill>
              </a:rPr>
              <a:t>rgb(168,221,213)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7556739" y="3886200"/>
            <a:ext cx="1097280" cy="685800"/>
          </a:xfrm>
          <a:prstGeom prst="rect">
            <a:avLst/>
          </a:prstGeom>
          <a:solidFill>
            <a:srgbClr val="3AADA0"/>
          </a:solidFill>
          <a:ln w="12700">
            <a:solidFill>
              <a:srgbClr val="3AADA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Text 25"/>
          <p:cNvSpPr/>
          <p:nvPr/>
        </p:nvSpPr>
        <p:spPr>
          <a:xfrm>
            <a:off x="7556739" y="46177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22222"/>
                </a:solidFill>
              </a:rPr>
              <a:t>#3aada0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222222"/>
                </a:solidFill>
              </a:rPr>
              <a:t>rgb(58,173,160)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8974059" y="3886200"/>
            <a:ext cx="1097280" cy="685800"/>
          </a:xfrm>
          <a:prstGeom prst="rect">
            <a:avLst/>
          </a:prstGeom>
          <a:solidFill>
            <a:srgbClr val="006D6B"/>
          </a:solidFill>
          <a:ln w="12700">
            <a:solidFill>
              <a:srgbClr val="006D6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Text 27"/>
          <p:cNvSpPr/>
          <p:nvPr/>
        </p:nvSpPr>
        <p:spPr>
          <a:xfrm>
            <a:off x="8974059" y="46177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22222"/>
                </a:solidFill>
              </a:rPr>
              <a:t>#006d6b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222222"/>
                </a:solidFill>
              </a:rPr>
              <a:t>rgb(0,109,107)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Fonts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The quick brown fox jumps over the lazy dog.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0  1  2  3  4  5  6  7  8  9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Font: (not specified)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Chart Examples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77240"/>
          <a:ext cx="265176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2834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55555"/>
                </a:solidFill>
              </a:rPr>
              <a:t>Bar chart (horizontal)</a:t>
            </a:r>
            <a:endParaRPr lang="en-US" sz="700" dirty="0"/>
          </a:p>
        </p:txBody>
      </p:sp>
      <p:graphicFrame>
        <p:nvGraphicFramePr>
          <p:cNvPr id="6" name="Chart 1"/>
          <p:cNvGraphicFramePr/>
          <p:nvPr/>
        </p:nvGraphicFramePr>
        <p:xfrm>
          <a:off x="3072384" y="777240"/>
          <a:ext cx="265176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3072384" y="2834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55555"/>
                </a:solidFill>
              </a:rPr>
              <a:t>Bubble chart</a:t>
            </a:r>
            <a:endParaRPr lang="en-US" sz="700" dirty="0"/>
          </a:p>
        </p:txBody>
      </p:sp>
      <p:graphicFrame>
        <p:nvGraphicFramePr>
          <p:cNvPr id="8" name="Chart 2"/>
          <p:cNvGraphicFramePr/>
          <p:nvPr/>
        </p:nvGraphicFramePr>
        <p:xfrm>
          <a:off x="5870448" y="777240"/>
          <a:ext cx="265176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Text 4"/>
          <p:cNvSpPr/>
          <p:nvPr/>
        </p:nvSpPr>
        <p:spPr>
          <a:xfrm>
            <a:off x="5870448" y="2834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55555"/>
                </a:solidFill>
              </a:rPr>
              <a:t>Column chart (vertical)</a:t>
            </a:r>
            <a:endParaRPr lang="en-US" sz="700" dirty="0"/>
          </a:p>
        </p:txBody>
      </p:sp>
      <p:graphicFrame>
        <p:nvGraphicFramePr>
          <p:cNvPr id="10" name="Chart 3"/>
          <p:cNvGraphicFramePr/>
          <p:nvPr/>
        </p:nvGraphicFramePr>
        <p:xfrm>
          <a:off x="8668512" y="777240"/>
          <a:ext cx="265176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1" name="Text 5"/>
          <p:cNvSpPr/>
          <p:nvPr/>
        </p:nvSpPr>
        <p:spPr>
          <a:xfrm>
            <a:off x="8668512" y="2834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55555"/>
                </a:solidFill>
              </a:rPr>
              <a:t>Line chart with markers</a:t>
            </a:r>
            <a:endParaRPr lang="en-US" sz="700" dirty="0"/>
          </a:p>
        </p:txBody>
      </p:sp>
      <p:graphicFrame>
        <p:nvGraphicFramePr>
          <p:cNvPr id="12" name="Chart 4"/>
          <p:cNvGraphicFramePr/>
          <p:nvPr/>
        </p:nvGraphicFramePr>
        <p:xfrm>
          <a:off x="274320" y="3246120"/>
          <a:ext cx="265176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3" name="Text 6"/>
          <p:cNvSpPr/>
          <p:nvPr/>
        </p:nvSpPr>
        <p:spPr>
          <a:xfrm>
            <a:off x="274320" y="53035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55555"/>
                </a:solidFill>
              </a:rPr>
              <a:t>Area chart</a:t>
            </a:r>
            <a:endParaRPr lang="en-US" sz="700" dirty="0"/>
          </a:p>
        </p:txBody>
      </p:sp>
      <p:graphicFrame>
        <p:nvGraphicFramePr>
          <p:cNvPr id="14" name="Chart 5"/>
          <p:cNvGraphicFramePr/>
          <p:nvPr/>
        </p:nvGraphicFramePr>
        <p:xfrm>
          <a:off x="3072384" y="3246120"/>
          <a:ext cx="265176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5" name="Text 7"/>
          <p:cNvSpPr/>
          <p:nvPr/>
        </p:nvSpPr>
        <p:spPr>
          <a:xfrm>
            <a:off x="3072384" y="53035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55555"/>
                </a:solidFill>
              </a:rPr>
              <a:t>Donut chart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Additional Resources</a:t>
            </a:r>
            <a:endParaRPr lang="en-US" sz="2200" dirty="0"/>
          </a:p>
        </p:txBody>
      </p:sp>
      <p:sp>
        <p:nvSpPr>
          <p:cNvPr id="4" name="Text 2">
            <a:hlinkClick r:id="rId3"/>
          </p:cNvPr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10A5FA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• Data Visualization Style Guidelines</a:t>
            </a:r>
            <a:endParaRPr lang="en-US" sz="1200" dirty="0">
              <a:solidFill>
                <a:srgbClr val="10A5FA"/>
              </a:solidFill>
            </a:endParaRPr>
          </a:p>
        </p:txBody>
      </p:sp>
      <p:sp>
        <p:nvSpPr>
          <p:cNvPr id="5" name="Text 3">
            <a:hlinkClick r:id="rId4"/>
          </p:cNvPr>
          <p:cNvSpPr/>
          <p:nvPr/>
        </p:nvSpPr>
        <p:spPr>
          <a:xfrm>
            <a:off x="457200" y="11430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DBEAFE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• WCAG</a:t>
            </a:r>
            <a:endParaRPr lang="en-US" sz="1200" dirty="0"/>
          </a:p>
        </p:txBody>
      </p:sp>
      <p:sp>
        <p:nvSpPr>
          <p:cNvPr id="6" name="Text 4">
            <a:hlinkClick r:id="rId5"/>
          </p:cNvPr>
          <p:cNvSpPr/>
          <p:nvPr/>
        </p:nvSpPr>
        <p:spPr>
          <a:xfrm>
            <a:off x="457200" y="15087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10A5FA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• Do No Harm Project</a:t>
            </a:r>
            <a:endParaRPr lang="en-US" sz="1200" dirty="0">
              <a:solidFill>
                <a:srgbClr val="10A5FA"/>
              </a:solidFill>
            </a:endParaRPr>
          </a:p>
        </p:txBody>
      </p:sp>
      <p:sp>
        <p:nvSpPr>
          <p:cNvPr id="7" name="Text 5">
            <a:hlinkClick r:id="rId6"/>
          </p:cNvPr>
          <p:cNvSpPr/>
          <p:nvPr/>
        </p:nvSpPr>
        <p:spPr>
          <a:xfrm>
            <a:off x="457200" y="1874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10A5FA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• Writing Alt Text for Data Visualization</a:t>
            </a:r>
            <a:endParaRPr lang="en-US" sz="1200" dirty="0">
              <a:solidFill>
                <a:srgbClr val="10A5FA"/>
              </a:solidFill>
            </a:endParaRPr>
          </a:p>
        </p:txBody>
      </p:sp>
      <p:sp>
        <p:nvSpPr>
          <p:cNvPr id="8" name="Text 6">
            <a:hlinkClick r:id="rId7"/>
          </p:cNvPr>
          <p:cNvSpPr/>
          <p:nvPr/>
        </p:nvSpPr>
        <p:spPr>
          <a:xfrm>
            <a:off x="457200" y="22402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DBEAFE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• Adobe Color tool</a:t>
            </a:r>
            <a:endParaRPr lang="en-US" sz="1200" dirty="0"/>
          </a:p>
        </p:txBody>
      </p:sp>
      <p:sp>
        <p:nvSpPr>
          <p:cNvPr id="9" name="Text 7">
            <a:hlinkClick r:id="rId8"/>
          </p:cNvPr>
          <p:cNvSpPr/>
          <p:nvPr/>
        </p:nvSpPr>
        <p:spPr>
          <a:xfrm>
            <a:off x="457200" y="2606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DBEAFE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• Leonardo Color tool</a:t>
            </a:r>
            <a:endParaRPr lang="en-US" sz="1200" dirty="0"/>
          </a:p>
        </p:txBody>
      </p:sp>
      <p:sp>
        <p:nvSpPr>
          <p:cNvPr id="10" name="Text 8">
            <a:hlinkClick r:id="rId9"/>
          </p:cNvPr>
          <p:cNvSpPr/>
          <p:nvPr/>
        </p:nvSpPr>
        <p:spPr>
          <a:xfrm>
            <a:off x="457200" y="29718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DBEAFE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• Better Data Visualizations: A Guide for Scholars, Researchers, and Wonks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178</Words>
  <Application>Microsoft Office PowerPoint</Application>
  <PresentationFormat>Panorámica</PresentationFormat>
  <Paragraphs>53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JONATHAN JACOBE, MONTES</cp:lastModifiedBy>
  <cp:revision>2</cp:revision>
  <dcterms:created xsi:type="dcterms:W3CDTF">2026-04-23T01:44:39Z</dcterms:created>
  <dcterms:modified xsi:type="dcterms:W3CDTF">2026-04-23T02:08:15Z</dcterms:modified>
</cp:coreProperties>
</file>